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3"/>
    <p:restoredTop sz="94694"/>
  </p:normalViewPr>
  <p:slideViewPr>
    <p:cSldViewPr snapToGrid="0" snapToObjects="1">
      <p:cViewPr varScale="1">
        <p:scale>
          <a:sx n="103" d="100"/>
          <a:sy n="103" d="100"/>
        </p:scale>
        <p:origin x="200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328CA-8F2F-3D46-86F8-D614ACE7A97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4753-D5E4-A44B-BDC6-A62F60BBC6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040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D4753-D5E4-A44B-BDC6-A62F60BBC616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9515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49787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TC2004B — Análisis y Ciencia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Análisis Exploratorio de Datos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97757"/>
                </a:solidFill>
              </a:rPr>
              <a:t>Dataset: RMS Titanic — Datos Abiertos (OpenML #40945)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291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1.  Contexto del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941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2.  Calidad de datos (faltantes · duplicados · rangos)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965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3.  Métricas básicas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988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4.  Hipótesis que guían la exploración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9011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5.  Información adicional relevante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FFFFFF"/>
                </a:solidFill>
              </a:rPr>
              <a:t>Febrero</a:t>
            </a:r>
            <a:r>
              <a:rPr sz="1200" b="0" i="0" dirty="0">
                <a:solidFill>
                  <a:srgbClr val="FFFFFF"/>
                </a:solidFill>
              </a:rPr>
              <a:t> 2026</a:t>
            </a:r>
            <a:r>
              <a:rPr lang="es-419" sz="1200" b="0" i="0" dirty="0">
                <a:solidFill>
                  <a:srgbClr val="FFFFFF"/>
                </a:solidFill>
              </a:rPr>
              <a:t> | Juan Felipe Zepeda</a:t>
            </a:r>
            <a:endParaRPr sz="120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1.  Contexto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RMS Titanic  •  15 de abril de 1912  •  OpenML #40945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960120"/>
          </a:xfrm>
          <a:prstGeom prst="rect">
            <a:avLst/>
          </a:prstGeom>
          <a:solidFill>
            <a:srgbClr val="EAF4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El RMS Titanic se hundió el 15 de abril de 1912 tras chocar con un iceberg. De ~2,224 personas a bordo, sobrevivieron ~710 (~32%). Este dataset contiene 891 pasajeros del manifiesto de pasaje. Es un caso histórico real donde la supervivencia dependió de factores socioeconómicos, demográficos y logísticos.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3870960" cy="43891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5280" y="2194560"/>
            <a:ext cx="3870960" cy="43891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6240" y="2194560"/>
            <a:ext cx="3870960" cy="43891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33472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survived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2633472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Binaria (0/1)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240" y="2633472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Variable objetivo — 1 = sobrevivió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72384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pclass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80" y="3072384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Ordinal (1-3)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6240" y="3072384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Clase del camarote (1ª, 2ª, 3ª)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11296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sex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3511296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Categórica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6240" y="3511296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Sexo del pasajero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50208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5280" y="3950208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Núm. continua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6240" y="3950208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Edad en años (fraccionarios = bebés)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sibsp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4389120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Núm. discreta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6240" y="4389120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# hermanos / cónyuge a bordo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28031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parch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5280" y="4828031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Núm. discreta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6240" y="4828031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# padres / hijos a bordo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66944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fare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5266944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Núm. continua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6240" y="5266944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Tarifa pagada en libras esterlinas (1912)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705856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embarked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5280" y="5705856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Categórica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6240" y="5705856"/>
            <a:ext cx="3870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Puerto: C=Cherburgo  Q=Queenstown  S=Southampton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144768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deck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6144768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Ordinal A-G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6240" y="6144768"/>
            <a:ext cx="38709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Cubierta del camarote (A más alta, G más baja)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1170432"/>
            <a:ext cx="2560320" cy="868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72600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57"/>
                </a:solidFill>
              </a:rPr>
              <a:t>891 filas  ×  15 columnas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1572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Tasa supervivencia: 38.4%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2.  Calidad de Datos — Valores Faltantes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Identificación de columnas con datos ausentes y su magnitud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2728"/>
            <a:ext cx="116128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2.  Calidad de Datos — Estrategias y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Plan de acción por columna  +  detección de rangos anómalos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828800" cy="58521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Columna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143000"/>
            <a:ext cx="1828800" cy="58521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% / Obs.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143000"/>
            <a:ext cx="1828800" cy="58521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Estrategia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28216"/>
            <a:ext cx="1828800" cy="585216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728216"/>
            <a:ext cx="1828800" cy="585216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77.2%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728216"/>
            <a:ext cx="1828800" cy="585216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DESCARTAR (&gt;70%)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13432"/>
            <a:ext cx="1828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313432"/>
            <a:ext cx="1828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19.9%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313432"/>
            <a:ext cx="1828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Imputar mediana
por clase + sexo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98648"/>
            <a:ext cx="1828800" cy="585216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embarked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898648"/>
            <a:ext cx="1828800" cy="585216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2 obs.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898648"/>
            <a:ext cx="1828800" cy="585216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Imputar moda 'S'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83864"/>
            <a:ext cx="1828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fare = £0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483864"/>
            <a:ext cx="1828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15 obs.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483864"/>
            <a:ext cx="1828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C3E50"/>
                </a:solidFill>
              </a:rPr>
              <a:t>Investigar / excluir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60520"/>
            <a:ext cx="5486400" cy="640080"/>
          </a:xfrm>
          <a:prstGeom prst="rect">
            <a:avLst/>
          </a:prstGeom>
          <a:solidFill>
            <a:srgbClr val="F9E8E3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57"/>
                </a:solidFill>
              </a:rPr>
              <a:t>✔  Sin filas duplicadas exactas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6035040" cy="3657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48463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fare = £0 → 15 pax (tripulación o error de registro)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fare &gt; £300 → 3 pax (suites 1ª clase — legítimos)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577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age fraccionario → bebés &lt; 1 año (ej. 0.42 = ~5 meses)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3.  Métricas Básicas — Indicadores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Resumen estadístico general del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566160" cy="1554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9047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31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
pasajeros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234440"/>
            <a:ext cx="356616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9047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342
(38.4%)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2331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Sobrevivientes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234440"/>
            <a:ext cx="3566160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149047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549
(61.6%)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31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 sobrevivientes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17520"/>
            <a:ext cx="3566160" cy="1554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327355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29.7 años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Edad promedio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017520"/>
            <a:ext cx="3566160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327355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£14.45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Tarifa mediana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017520"/>
            <a:ext cx="3566160" cy="15544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327355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35.2%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% Mujeres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00600"/>
            <a:ext cx="3566160" cy="1554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505663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24.2%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897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% 1ª clase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4800600"/>
            <a:ext cx="3566160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51959" y="505663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55.1%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5897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% 3ª clase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800600"/>
            <a:ext cx="356616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79" y="505663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5897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Duplicados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3.  Métricas Básicas — Distribuciones Univariadas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Histogramas, pie chart y barras para las variables principales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4.  H1: Las mujeres tuvieron mayor tasa de supervivencia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Protocolo histórico "Mujeres y niños primero"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F9E8E3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57"/>
                </a:solidFill>
              </a:rPr>
              <a:t>✅  CONFIRMADA: Mujeres 74% vs Hombres 19% — ratio 3.5×  |  Diferencia estadísticamente muy significativa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4.  H2: Pasajeros de 1ª clase tuvieron mayor probabilidad de sobrevivir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El estatus socioeconómico influyó directamente en el acceso a botes salvavidas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F9E8E3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57"/>
                </a:solidFill>
              </a:rPr>
              <a:t>✅  CONFIRMADA: 1ª clase 63% | 2ª 47% | 3ª 24% — Brecha de 39 puntos porcentuales entre extremos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4.  H3: Los niños tuvieron mayor prioridad de evacuación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"Mujeres y niños primero" — Análisis por grupo etario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F9E8E3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</a:rPr>
              <a:t>⚠️  PARCIALMENTE CONFIRMADA: Niños 0-12 tienen la mayor tasa (58%), pero la diferencia no es suficiente por sí sola para confirmar el protocolo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4.  H4: Mayor tarifa → Mayor probabilidad de supervivencia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La tarifa es proxy del nivel socioeconómico y del acceso a recursos de emergencia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F9E8E3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57"/>
                </a:solidFill>
              </a:rPr>
              <a:t>✅  CONFIRMADA: Tarifa mediana sobrevivientes £26.00 vs no sobrevivientes £10.50  (ratio 2.5×)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4.  H5: Viajar solo redujo las probabilidades de supervivencia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El aislamiento social frente al apoyo familiar en situaciones de emergencia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F9E8E3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</a:rPr>
              <a:t>⚠️  PARCIALMENTE CONFIRMADA: Solo 30% | Familia pequeña (1-3 miembros) ~57% | Familias grandes (5+) también tuvieron baja supervivencia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4.  Resumen de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Hallazgos clave de la exploración guiada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903220" cy="838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Hipótesis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1188720"/>
            <a:ext cx="2903220" cy="838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188720"/>
            <a:ext cx="2903220" cy="838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Evidencia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3980" y="1188720"/>
            <a:ext cx="2903220" cy="838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|r| con survived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69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H1: Mujeres ↑ supervivencia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7539" y="20269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✅ Confirmada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20269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74% (mujer) vs 19% (hombre) — ratio 3.5×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3980" y="20269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+0.54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651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H2: 1ª clase ↑ supervivencia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7539" y="28651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✅ Confirmada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28651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1ª: 63% | 2ª: 47% | 3ª: 24% — brecha 39 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3980" y="28651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-0.34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033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H3: Niños con prioridad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7539" y="37033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⚠️ Parcial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37033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0-12 años: ~58% (mayor tasa del dataset)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7033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-0.08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415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H4: Mayor tarifa ↑ supervivencia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7539" y="45415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✅ Confirmada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45415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Mediana £26 (sí) vs £10 (no) — ratio 2.6×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3980" y="4541520"/>
            <a:ext cx="2903220" cy="838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+0.26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797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H5: Solo ↓ supervivencia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77539" y="53797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⚠️ Parcial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53797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Solo: 30% | Familia 1-3: ~57%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3980" y="5379720"/>
            <a:ext cx="2903220" cy="8382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C3E50"/>
                </a:solidFill>
              </a:rPr>
              <a:t>+0.20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5.  Información Adicional — Matriz de Correlación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Relaciones lineales entre todas las variables numéricas codificadas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5.  Información Adicional — Análisis Multivariado: Edad × Clase ×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KDE de edad estratificado por clase y resultado  |  Línea sólida = sobrevivió  |  Discontinua = no sobrevivió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</a:rPr>
              <a:t>5.  Próximos Pasos Sugeridos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Rutas de acción post-EDA para modelado y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0" cy="2606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🔧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• Extraer título del nombre (Mr., Mrs., Miss., Master.)
• Crear variable is_child (age &lt; 13)
• Aplicar log(1+fare) para normalizar distribución
• fare_per_person = fare / (family_size + 1)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5669280" cy="2606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566928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79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📊 Validación Estadística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1709928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• Chi-cuadrado: survived vs pclass, sex, embarked
• Mann-Whitney U: edad y tarifa por resultado
• ANOVA: tarifa por clase
• Análisis de potencia para tamaños de muestra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669280" cy="2606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566928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🤖 Modelado Predictivo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07408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• Baseline: Regresión Logística
• Árbol de Decisión (interpretabilidad)
• Random Forest + XGBoost
• Validación cruzada k-fold (k=5 o 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40480"/>
            <a:ext cx="5669280" cy="2606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66928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79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📈 Evaluación de Modelos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4407408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• Métricas: AUC-ROC, Precision, Recall, F1
• Matriz de confusión
• Curvas ROC y Precision-Recall
• SHAP values para explicabilidad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97880"/>
            <a:ext cx="12188952" cy="9601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3E50"/>
                </a:solidFill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94760" cy="46634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94760" cy="5943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DATASET
&amp; CALIDAD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8308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891 pasajeros · 15 vars
Supervivencia global: 38.4%
deck → DESCARTAR (77%)
age → imputar mediana
embarked → imputar moda
fare=£0 → investigar
Duplicados: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097280"/>
            <a:ext cx="3794760" cy="46634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1097280"/>
            <a:ext cx="3794760" cy="5943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399" y="111556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HIPÓTESIS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CF0F1"/>
                </a:solidFill>
              </a:rPr>
              <a:t>H1 ✅  </a:t>
            </a:r>
            <a:r>
              <a:rPr sz="1100" b="0" i="0" dirty="0" err="1">
                <a:solidFill>
                  <a:srgbClr val="ECF0F1"/>
                </a:solidFill>
              </a:rPr>
              <a:t>Mujer</a:t>
            </a:r>
            <a:r>
              <a:rPr sz="1100" b="0" i="0" dirty="0">
                <a:solidFill>
                  <a:srgbClr val="ECF0F1"/>
                </a:solidFill>
              </a:rPr>
              <a:t> 74% vs H. 19%
H2 ✅  1ª 63% | 3ª 24%
H3 ⚠️  </a:t>
            </a:r>
            <a:r>
              <a:rPr sz="1100" b="0" i="0" dirty="0" err="1">
                <a:solidFill>
                  <a:srgbClr val="ECF0F1"/>
                </a:solidFill>
              </a:rPr>
              <a:t>Niños</a:t>
            </a:r>
            <a:r>
              <a:rPr sz="1100" b="0" i="0" dirty="0">
                <a:solidFill>
                  <a:srgbClr val="ECF0F1"/>
                </a:solidFill>
              </a:rPr>
              <a:t> 0-12: ~58%
H4 ✅  £26 vs £10 (2.6×)
H5 ⚠️  Solo 30% vs 57%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794760" cy="46634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794760" cy="5943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11556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TOP PREDICTORES
(|r| con survived)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1. Sexo (mujer) → 0.54
2. Clase         → 0.34
3. Tarifa        → 0.26
4. Embarque      → 0.11
5. Edad          → 0.08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TC2004B — Análisis y Ciencia de Datos  |  Febrero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1186</Words>
  <Application>Microsoft Macintosh PowerPoint</Application>
  <PresentationFormat>Personalizado</PresentationFormat>
  <Paragraphs>153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Felipe Zepeda</cp:lastModifiedBy>
  <cp:revision>2</cp:revision>
  <dcterms:created xsi:type="dcterms:W3CDTF">2013-01-27T09:14:16Z</dcterms:created>
  <dcterms:modified xsi:type="dcterms:W3CDTF">2026-02-28T05:14:19Z</dcterms:modified>
  <cp:category/>
</cp:coreProperties>
</file>